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7f6ab76d9454b" /><Relationship Type="http://schemas.openxmlformats.org/officeDocument/2006/relationships/extended-properties" Target="/docProps/app.xml" Id="R2bc9f9504d7848e9" /><Relationship Type="http://schemas.openxmlformats.org/officeDocument/2006/relationships/officeDocument" Target="/ppt/presentation.xml" Id="Raa0a280bf715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9d1d64ec74fcb"/>
  </p:sldMasterIdLst>
  <p:notesMasterIdLst>
    <p:notesMasterId xmlns:r="http://schemas.openxmlformats.org/officeDocument/2006/relationships" r:id="Rc79216ace01c4a42"/>
  </p:notesMasterIdLst>
  <p:sldIdLst>
    <p:sldId xmlns:r="http://schemas.openxmlformats.org/officeDocument/2006/relationships" id="256" r:id="Rb9024f8823694e7f"/>
    <p:sldId xmlns:r="http://schemas.openxmlformats.org/officeDocument/2006/relationships" id="257" r:id="R7fd08f9fc7fe4f8a"/>
    <p:sldId xmlns:r="http://schemas.openxmlformats.org/officeDocument/2006/relationships" id="258" r:id="Rfdc043339bd74bef"/>
    <p:sldId xmlns:r="http://schemas.openxmlformats.org/officeDocument/2006/relationships" id="259" r:id="Rd31e4e4bbae24640"/>
    <p:sldId xmlns:r="http://schemas.openxmlformats.org/officeDocument/2006/relationships" id="260" r:id="R921b524ac2eb407d"/>
    <p:sldId xmlns:r="http://schemas.openxmlformats.org/officeDocument/2006/relationships" id="261" r:id="R9a006f184b994227"/>
    <p:sldId xmlns:r="http://schemas.openxmlformats.org/officeDocument/2006/relationships" id="262" r:id="R66409642f0c743a3"/>
    <p:sldId xmlns:r="http://schemas.openxmlformats.org/officeDocument/2006/relationships" id="263" r:id="Rb8dfa087d911497a"/>
    <p:sldId xmlns:r="http://schemas.openxmlformats.org/officeDocument/2006/relationships" id="264" r:id="R89feadda08bc42b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9d1d64ec74fcb" /><Relationship Type="http://schemas.openxmlformats.org/officeDocument/2006/relationships/theme" Target="/ppt/theme/theme1.xml" Id="Rbb97c9f3e46d4167" /><Relationship Type="http://schemas.openxmlformats.org/officeDocument/2006/relationships/notesMaster" Target="/ppt/notesMasters/notesMaster1.xml" Id="Rc79216ace01c4a42" /><Relationship Type="http://schemas.openxmlformats.org/officeDocument/2006/relationships/presProps" Target="/ppt/presProps.xml" Id="R5618823ac99f49c5" /><Relationship Type="http://schemas.openxmlformats.org/officeDocument/2006/relationships/viewProps" Target="/ppt/viewProps.xml" Id="R82d917943cea4431" /><Relationship Type="http://schemas.openxmlformats.org/officeDocument/2006/relationships/tableStyles" Target="/ppt/tableStyles.xml" Id="Rcb59add420774af5" /><Relationship Type="http://schemas.openxmlformats.org/officeDocument/2006/relationships/slide" Target="/ppt/slides/slide1.xml" Id="Rb9024f8823694e7f" /><Relationship Type="http://schemas.openxmlformats.org/officeDocument/2006/relationships/slide" Target="/ppt/slides/slide2.xml" Id="R7fd08f9fc7fe4f8a" /><Relationship Type="http://schemas.openxmlformats.org/officeDocument/2006/relationships/slide" Target="/ppt/slides/slide3.xml" Id="Rfdc043339bd74bef" /><Relationship Type="http://schemas.openxmlformats.org/officeDocument/2006/relationships/slide" Target="/ppt/slides/slide4.xml" Id="Rd31e4e4bbae24640" /><Relationship Type="http://schemas.openxmlformats.org/officeDocument/2006/relationships/slide" Target="/ppt/slides/slide5.xml" Id="R921b524ac2eb407d" /><Relationship Type="http://schemas.openxmlformats.org/officeDocument/2006/relationships/slide" Target="/ppt/slides/slide6.xml" Id="R9a006f184b994227" /><Relationship Type="http://schemas.openxmlformats.org/officeDocument/2006/relationships/slide" Target="/ppt/slides/slide7.xml" Id="R66409642f0c743a3" /><Relationship Type="http://schemas.openxmlformats.org/officeDocument/2006/relationships/slide" Target="/ppt/slides/slide8.xml" Id="Rb8dfa087d911497a" /><Relationship Type="http://schemas.openxmlformats.org/officeDocument/2006/relationships/slide" Target="/ppt/slides/slide9.xml" Id="R89feadda08bc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2dbd1bdac24a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d6161b30e347ee" /><Relationship Type="http://schemas.openxmlformats.org/officeDocument/2006/relationships/notesMaster" Target="/ppt/notesMasters/notesMaster1.xml" Id="R8bafecf645684b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9b8b7efff4894" /><Relationship Type="http://schemas.openxmlformats.org/officeDocument/2006/relationships/notesMaster" Target="/ppt/notesMasters/notesMaster1.xml" Id="R8c00df56fe9649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ea2ac3ebe4f46" /><Relationship Type="http://schemas.openxmlformats.org/officeDocument/2006/relationships/notesMaster" Target="/ppt/notesMasters/notesMaster1.xml" Id="Rb349468303e3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8874450dd4039" /><Relationship Type="http://schemas.openxmlformats.org/officeDocument/2006/relationships/notesMaster" Target="/ppt/notesMasters/notesMaster1.xml" Id="R497cc42d5a77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ac2bafa9a1403c" /><Relationship Type="http://schemas.openxmlformats.org/officeDocument/2006/relationships/notesMaster" Target="/ppt/notesMasters/notesMaster1.xml" Id="Re7dd33a512a14e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e4b2789a7a49e3" /><Relationship Type="http://schemas.openxmlformats.org/officeDocument/2006/relationships/notesMaster" Target="/ppt/notesMasters/notesMaster1.xml" Id="R7f83b1f42e074c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33a8d256af4624" /><Relationship Type="http://schemas.openxmlformats.org/officeDocument/2006/relationships/notesMaster" Target="/ppt/notesMasters/notesMaster1.xml" Id="R360d8d26a3dd45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99b86d187347b9" /><Relationship Type="http://schemas.openxmlformats.org/officeDocument/2006/relationships/notesMaster" Target="/ppt/notesMasters/notesMaster1.xml" Id="R8596b5e9d7394a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9280c4a760428b" /><Relationship Type="http://schemas.openxmlformats.org/officeDocument/2006/relationships/notesMaster" Target="/ppt/notesMasters/notesMaster1.xml" Id="R3a09b3312605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7b9354b62454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6de04ce58b4d47" /><Relationship Type="http://schemas.openxmlformats.org/officeDocument/2006/relationships/slideLayout" Target="/ppt/slideLayouts/slideLayout2.xml" Id="R06862056ed6d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62056ed6d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c27468b55140a4" /><Relationship Type="http://schemas.openxmlformats.org/officeDocument/2006/relationships/notesSlide" Target="/ppt/notesSlides/notesSlide1.xml" Id="R51419f0f76ca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da6f76c93d4a4a" /><Relationship Type="http://schemas.openxmlformats.org/officeDocument/2006/relationships/chart" Target="/ppt/slides/charts/chart1.xml" Id="Re1bd67225c5e4f67" /><Relationship Type="http://schemas.openxmlformats.org/officeDocument/2006/relationships/notesSlide" Target="/ppt/notesSlides/notesSlide2.xml" Id="R41cc4acad4d547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394eb042147e1" /><Relationship Type="http://schemas.openxmlformats.org/officeDocument/2006/relationships/notesSlide" Target="/ppt/notesSlides/notesSlide3.xml" Id="R658962729d5c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fec2dc1ea4296" /><Relationship Type="http://schemas.openxmlformats.org/officeDocument/2006/relationships/notesSlide" Target="/ppt/notesSlides/notesSlide4.xml" Id="R5fee7d6ac44449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bbdaebe0c43de" /><Relationship Type="http://schemas.openxmlformats.org/officeDocument/2006/relationships/notesSlide" Target="/ppt/notesSlides/notesSlide5.xml" Id="Ra217051a6b6642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77c5fcce144601" /><Relationship Type="http://schemas.openxmlformats.org/officeDocument/2006/relationships/notesSlide" Target="/ppt/notesSlides/notesSlide6.xml" Id="R62102b52232f44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e0b59bf764436e" /><Relationship Type="http://schemas.openxmlformats.org/officeDocument/2006/relationships/notesSlide" Target="/ppt/notesSlides/notesSlide7.xml" Id="Re48ec857e2cf4b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149251347140fa" /><Relationship Type="http://schemas.openxmlformats.org/officeDocument/2006/relationships/notesSlide" Target="/ppt/notesSlides/notesSlide8.xml" Id="R74a46b4158a643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cb3227957b4a3a" /><Relationship Type="http://schemas.openxmlformats.org/officeDocument/2006/relationships/notesSlide" Target="/ppt/notesSlides/notesSlide9.xml" Id="R7dcfc31010834230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Greek BESS scale markers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MW</c:v>
          </c:tx>
          <c:cat>
            <c:strLit>
              <c:ptCount val="4"/>
              <c:pt idx="0">
                <c:v>First live systems</c:v>
              </c:pt>
              <c:pt idx="1">
                <c:v>Ready to energise</c:v>
              </c:pt>
              <c:pt idx="2">
                <c:v>2026 target</c:v>
              </c:pt>
              <c:pt idx="3">
                <c:v>METLEN-Karatzis</c:v>
              </c:pt>
            </c:strLit>
          </c:cat>
          <c:val>
            <c:numLit>
              <c:formatCode/>
              <c:ptCount val="4"/>
              <c:pt idx="0">
                <c:v>16.7</c:v>
              </c:pt>
              <c:pt idx="1">
                <c:v>300</c:v>
              </c:pt>
              <c:pt idx="2">
                <c:v>1100</c:v>
              </c:pt>
              <c:pt idx="3">
                <c:v>330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7E1BE82-DF91-4D8C-BC2B-B6F2FDB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AF8AB786-5ABE-4532-9A98-A10AB6C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B7687-4C91-48C8-AC03-B660EB8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851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OD YCEO HACKATHON / GREEK BESS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024E4-1660-433A-AC0B-84DEADD1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851535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E6EDF3"/>
                </a:solidFill>
              </a:defRPr>
            </a:pPr>
            <a:r>
              <a:rPr sz="6900" b="1">
                <a:solidFill>
                  <a:srgbClr val="E6EDF3"/>
                </a:solidFill>
              </a:rPr>
              <a:t>Battery Intelligence 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B67B2-F759-42A5-B703-498CA0EA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79819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B9C7D1"/>
                </a:solidFill>
              </a:defRPr>
            </a:pPr>
            <a:r>
              <a:rPr sz="2550">
                <a:solidFill>
                  <a:srgbClr val="B9C7D1"/>
                </a:solidFill>
              </a:rPr>
              <a:t>A control cockpit for battery operators entering volatile, data-scarce power markets.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2D6CA-9120-4131-A246-82400BA7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67E8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2ADDC-8401-4734-9495-5BFB7BD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96100"/>
            <a:ext cx="84391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8B949E"/>
                </a:solidFill>
              </a:defRPr>
            </a:pPr>
            <a:r>
              <a:rPr sz="2025">
                <a:solidFill>
                  <a:srgbClr val="8B949E"/>
                </a:solidFill>
              </a:rPr>
              <a:t>Not another price forecast. A platform that turns fragmented market, grid, weather, fuel, and asset signals into feasible charge, discharge, or idle decisions.</a:t>
            </a:r>
          </a:p>
        </p:txBody>
      </p:sp>
      <p:sp>
        <p:nvSpPr>
          <p:cNvPr id="8" name="cover-stage">
            <a:extLst xmlns:a="http://schemas.openxmlformats.org/drawingml/2006/main">
              <a:ext uri="{FF2B5EF4-FFF2-40B4-BE49-F238E27FC236}">
                <a16:creationId xmlns:a16="http://schemas.microsoft.com/office/drawing/2014/main" id="{EFF8FAC9-E64D-4E26-97FE-915E8B6C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838200"/>
            <a:ext cx="7239000" cy="8686800"/>
          </a:xfrm>
          <a:prstGeom xmlns:a="http://schemas.openxmlformats.org/drawingml/2006/main" prst="roundRect">
            <a:avLst>
              <a:gd name="adj" fmla="val 789"/>
            </a:avLst>
          </a:prstGeom>
          <a:solidFill xmlns:a="http://schemas.openxmlformats.org/drawingml/2006/main">
            <a:srgbClr val="101419">
              <a:alpha val="7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1D730-E72E-4D41-B3A1-5F14C7E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43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7E4C6-5ABB-4CD6-857F-BA1C1BB5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1143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EF432-7D01-48ED-8D72-E324B6E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1143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D6375-5428-4B93-AD7F-6928134E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1143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92457-BC37-4445-B109-9157EAFB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14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4AB3D-13EF-4A2C-9869-558D4623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514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D6B02-5F5E-4F9E-BA67-259FE56F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514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DA347-0857-4A17-953D-49C44E8C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2514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CDC1C-772F-490F-9AA3-05870C3A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10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16325-4DB7-443F-A4CA-D79F6B7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810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DC3A7-281E-4C79-8DE0-CF622A9A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810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17CCC-90C0-489E-B1BE-980CF72E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38100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43F84-B996-4B06-A990-AEEE9DA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81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CB003-E522-4C2C-8FA1-3C5C21E6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181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428B7-1E4C-429D-9128-623D838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181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E3A58-58C9-41EE-8B3E-C9C6863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181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94D07-E806-4828-BC46-C3D2FD59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28C47-278A-4B35-BA16-0DFBAFD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5532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4C263-2BF6-47A5-9AE0-BA52107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5532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4DBA6-44F2-4017-BDA2-391911AC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65532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CEFBD-87CC-4223-938D-288CA8D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848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4FB1C-E7F4-49CE-8F61-4426B3B4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848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8A3A19-EE96-45F2-8442-34A11635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848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98C181-040C-47D1-B6ED-23DA507E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7848600"/>
            <a:ext cx="1600200" cy="12954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046E8-C52B-43C2-AE6A-FA2B13C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096250"/>
            <a:ext cx="6038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7E8F9"/>
                </a:solidFill>
              </a:defRPr>
            </a:pPr>
            <a:r>
              <a:rPr sz="1500">
                <a:solidFill>
                  <a:srgbClr val="67E8F9"/>
                </a:solidFill>
              </a:rPr>
              <a:t>96 MTUs / EUR-MWh / Europe-Athens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98F15-5338-4A9D-8E61-70AE9C78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458200"/>
            <a:ext cx="6038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6EDF3"/>
                </a:solidFill>
              </a:defRPr>
            </a:pPr>
            <a:r>
              <a:rPr sz="2700" b="1">
                <a:solidFill>
                  <a:srgbClr val="E6EDF3"/>
                </a:solidFill>
              </a:rPr>
              <a:t>CHARGE  DISCHARGE  IDLE</a:t>
            </a:r>
          </a:p>
        </p:txBody>
      </p:sp>
    </p:spTree>
    <p:extLst>
      <p:ext uri="{BB962C8B-B14F-4D97-AF65-F5344CB8AC3E}">
        <p14:creationId xmlns:p14="http://schemas.microsoft.com/office/powerpoint/2010/main" val="160025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6BC8730-53B9-472F-A0C9-9512A071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86DE9525-350A-43F8-A05A-789424B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E9815-4E5A-4B66-B3B9-62250600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1 / MARKET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1600B-7EE8-4727-9C27-37899C4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1661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6EDF3"/>
                </a:solidFill>
              </a:defRPr>
            </a:pPr>
            <a:r>
              <a:rPr sz="4350" b="1">
                <a:solidFill>
                  <a:srgbClr val="E6EDF3"/>
                </a:solidFill>
              </a:rPr>
              <a:t>The operators are arriving before the playbook is mature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AEF67-50F4-408C-B4F7-6B7623E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45923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B949E"/>
                </a:solidFill>
              </a:defRPr>
            </a:pPr>
            <a:r>
              <a:rPr sz="1875">
                <a:solidFill>
                  <a:srgbClr val="8B949E"/>
                </a:solidFill>
              </a:rPr>
              <a:t>Greece is moving from battery projects on paper to batteries participating in HEnEx markets. METLEN-Karatzis is the headline scale project, but the market also includes PPC Renewables, HELLENiQ Renewables, Energiaki Techniki, Faria, Principia, Motor Oil/MORE, and others.</a:t>
            </a:r>
          </a:p>
        </p:txBody>
      </p:sp>
      <p:graphicFrame>
        <p:nvGraphicFramePr>
          <p:cNvPr id="6" name="bess-market-ramp-chart"/>
          <p:cNvGraphicFramePr/>
          <p:nvPr/>
        </p:nvGraphicFramePr>
        <p:xfrm>
          <a:off xmlns:a="http://schemas.openxmlformats.org/drawingml/2006/main" x="838200" y="3025140"/>
          <a:ext xmlns:a="http://schemas.openxmlformats.org/drawingml/2006/main" cx="9288780" cy="6065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bd67225c5e4f67"/>
          </a:graphicData>
        </a:graphic>
      </p:graphicFrame>
      <p:sp>
        <p:nvSpPr>
          <p:cNvPr id="7" name="metlen">
            <a:extLst xmlns:a="http://schemas.openxmlformats.org/drawingml/2006/main">
              <a:ext uri="{FF2B5EF4-FFF2-40B4-BE49-F238E27FC236}">
                <a16:creationId xmlns:a16="http://schemas.microsoft.com/office/drawing/2014/main" id="{17F7353A-ECB6-49F2-901D-E77EC58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180" y="3587115"/>
            <a:ext cx="6865620" cy="152019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0AF85-A3FD-49C5-8092-9494EA64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79095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B949E"/>
                </a:solidFill>
              </a:defRPr>
            </a:pPr>
            <a:r>
              <a:rPr sz="1275">
                <a:solidFill>
                  <a:srgbClr val="8B949E"/>
                </a:solidFill>
              </a:rPr>
              <a:t>METLEN-Karatzis Thessaly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3F9FD-028F-4D50-801D-22FBB3E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076700"/>
            <a:ext cx="636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7E8F9"/>
                </a:solidFill>
              </a:defRPr>
            </a:pPr>
            <a:r>
              <a:rPr sz="3600" b="1">
                <a:solidFill>
                  <a:srgbClr val="67E8F9"/>
                </a:solidFill>
              </a:rPr>
              <a:t>330 MW / 790 MWh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BF4DB-3D8F-4ACE-87B9-5A55CD9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68630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B949E"/>
                </a:solidFill>
              </a:defRPr>
            </a:pPr>
            <a:r>
              <a:rPr sz="1350">
                <a:solidFill>
                  <a:srgbClr val="8B949E"/>
                </a:solidFill>
              </a:rPr>
              <a:t>Largest standalone storage unit planned to date in Greece.</a:t>
            </a:r>
          </a:p>
        </p:txBody>
      </p:sp>
      <p:sp>
        <p:nvSpPr>
          <p:cNvPr id="11" name="early">
            <a:extLst xmlns:a="http://schemas.openxmlformats.org/drawingml/2006/main">
              <a:ext uri="{FF2B5EF4-FFF2-40B4-BE49-F238E27FC236}">
                <a16:creationId xmlns:a16="http://schemas.microsoft.com/office/drawing/2014/main" id="{E7898F47-5D53-43B5-BF9D-0EEDF20F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180" y="5297805"/>
            <a:ext cx="6865620" cy="152019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084BE-32C7-480E-B212-DC128C2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50545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B949E"/>
                </a:solidFill>
              </a:defRPr>
            </a:pPr>
            <a:r>
              <a:rPr sz="1275">
                <a:solidFill>
                  <a:srgbClr val="8B949E"/>
                </a:solidFill>
              </a:rPr>
              <a:t>First operating BESS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EF99B-DE0D-4901-9364-78BFF1A1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772150"/>
            <a:ext cx="636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4D399"/>
                </a:solidFill>
              </a:defRPr>
            </a:pPr>
            <a:r>
              <a:rPr sz="3600" b="1">
                <a:solidFill>
                  <a:srgbClr val="34D399"/>
                </a:solidFill>
              </a:rPr>
              <a:t>16.7 MW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1BD66-3149-4321-8414-435A5387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0080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B949E"/>
                </a:solidFill>
              </a:defRPr>
            </a:pPr>
            <a:r>
              <a:rPr sz="1350">
                <a:solidFill>
                  <a:srgbClr val="8B949E"/>
                </a:solidFill>
              </a:rPr>
              <a:t>Petra and Dokos entered day-ahead/intraday market test operation.</a:t>
            </a:r>
          </a:p>
        </p:txBody>
      </p:sp>
      <p:sp>
        <p:nvSpPr>
          <p:cNvPr id="15" name="queue">
            <a:extLst xmlns:a="http://schemas.openxmlformats.org/drawingml/2006/main">
              <a:ext uri="{FF2B5EF4-FFF2-40B4-BE49-F238E27FC236}">
                <a16:creationId xmlns:a16="http://schemas.microsoft.com/office/drawing/2014/main" id="{5DE334F2-2589-4B4A-B874-89537054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180" y="7008495"/>
            <a:ext cx="6865620" cy="152019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80655-37B7-4A36-8423-862DE008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21995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B949E"/>
                </a:solidFill>
              </a:defRPr>
            </a:pPr>
            <a:r>
              <a:rPr sz="1275">
                <a:solidFill>
                  <a:srgbClr val="8B949E"/>
                </a:solidFill>
              </a:rPr>
              <a:t>Near-term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C15E2-FE22-4442-B7FC-17102AFE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486650"/>
            <a:ext cx="6362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9E0B"/>
                </a:solidFill>
              </a:defRPr>
            </a:pPr>
            <a:r>
              <a:rPr sz="3600" b="1">
                <a:solidFill>
                  <a:srgbClr val="F59E0B"/>
                </a:solidFill>
              </a:rPr>
              <a:t>~300 MW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AC5F4-D8BB-43D2-BBC8-DBAD7E2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115300"/>
            <a:ext cx="6362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B949E"/>
                </a:solidFill>
              </a:defRPr>
            </a:pPr>
            <a:r>
              <a:rPr sz="1350">
                <a:solidFill>
                  <a:srgbClr val="8B949E"/>
                </a:solidFill>
              </a:rPr>
              <a:t>Reported as ready for energisation in April 2026.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ACEC0-E7B7-4C9E-A646-40B9C5E9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45C66"/>
                </a:solidFill>
              </a:defRPr>
            </a:pPr>
            <a:r>
              <a:rPr sz="975">
                <a:solidFill>
                  <a:srgbClr val="545C66"/>
                </a:solidFill>
              </a:rPr>
              <a:t>Sources: METLEN press release, 9 Oct 2025; Balkan Green Energy News, 2 Apr 2026; Renewables Now, 1 Apr 2026.</a:t>
            </a:r>
          </a:p>
        </p:txBody>
      </p:sp>
    </p:spTree>
    <p:extLst>
      <p:ext uri="{BB962C8B-B14F-4D97-AF65-F5344CB8AC3E}">
        <p14:creationId xmlns:p14="http://schemas.microsoft.com/office/powerpoint/2010/main" val="1023515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73B764-62E1-4F78-A317-1DF535B5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3D624953-0B8E-4B6B-9A0F-982CB78B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0A6B1-D13C-4138-B9BE-994358B2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2 / GREECE INFLECTION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26DB8-F065-4C08-ACB0-E0094866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66800"/>
            <a:ext cx="13144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E6EDF3"/>
                </a:solidFill>
              </a:defRPr>
            </a:pPr>
            <a:r>
              <a:rPr sz="4500" b="1">
                <a:solidFill>
                  <a:srgbClr val="E6EDF3"/>
                </a:solidFill>
              </a:rPr>
              <a:t>The first batteries are not just assets. They are a new operating regime.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F50DA-DBD8-46AC-B525-478FF424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5276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34D399"/>
                </a:solidFill>
              </a:defRPr>
            </a:pPr>
            <a:r>
              <a:rPr sz="4950" b="1">
                <a:solidFill>
                  <a:srgbClr val="34D39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B66F4-B763-4007-B9FC-6282F69E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EDF3"/>
                </a:solidFill>
              </a:defRPr>
            </a:pPr>
            <a:r>
              <a:rPr sz="3150" b="1">
                <a:solidFill>
                  <a:srgbClr val="E6EDF3"/>
                </a:solidFill>
              </a:rPr>
              <a:t>Physical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A3DBF-E9F6-42BB-A5EB-A6D2E635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527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B949E"/>
                </a:solidFill>
              </a:defRPr>
            </a:pPr>
            <a:r>
              <a:rPr sz="1875">
                <a:solidFill>
                  <a:srgbClr val="8B949E"/>
                </a:solidFill>
              </a:rPr>
              <a:t>First standalone BESS began trial charging and discharging through HEnEx in April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2DA73-8AE2-4CA4-B72A-486FA146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52768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67E8F9"/>
                </a:solidFill>
              </a:defRPr>
            </a:pPr>
            <a:r>
              <a:rPr sz="7350" b="1">
                <a:solidFill>
                  <a:srgbClr val="67E8F9"/>
                </a:solidFill>
              </a:rPr>
              <a:t>96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F1809-0B12-4DC2-9A23-3A92D3BC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626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EDF3"/>
                </a:solidFill>
              </a:defRPr>
            </a:pPr>
            <a:r>
              <a:rPr sz="3150" b="1">
                <a:solidFill>
                  <a:srgbClr val="E6EDF3"/>
                </a:solidFill>
              </a:rPr>
              <a:t>Decision intervals per 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738B6-233B-4904-AA10-762837F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648450"/>
            <a:ext cx="527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B949E"/>
                </a:solidFill>
              </a:defRPr>
            </a:pPr>
            <a:r>
              <a:rPr sz="1875">
                <a:solidFill>
                  <a:srgbClr val="8B949E"/>
                </a:solidFill>
              </a:rPr>
              <a:t>EU day-ahead markets moved to 15-minute MTUs from delivery day 1 Oct 2025.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359AE-CA40-4A61-BC4D-D003A8A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48150"/>
            <a:ext cx="52768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59E0B"/>
                </a:solidFill>
              </a:defRPr>
            </a:pPr>
            <a:r>
              <a:rPr sz="735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0C689-8688-44F1-846A-3C667905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581650"/>
            <a:ext cx="52768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EDF3"/>
                </a:solidFill>
              </a:defRPr>
            </a:pPr>
            <a:r>
              <a:rPr sz="3150" b="1">
                <a:solidFill>
                  <a:srgbClr val="E6EDF3"/>
                </a:solidFill>
              </a:rPr>
              <a:t>Years of mature local BESS 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B4B64-8268-4ED3-B832-B6385A6F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743700"/>
            <a:ext cx="52768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B949E"/>
                </a:solidFill>
              </a:defRPr>
            </a:pPr>
            <a:r>
              <a:rPr sz="1875">
                <a:solidFill>
                  <a:srgbClr val="8B949E"/>
                </a:solidFill>
              </a:rPr>
              <a:t>Operators need decisions before they have a long operating history under full commercial rules.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F2B2A-692D-4391-9768-F3C2F1DF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10700"/>
            <a:ext cx="16459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45C66"/>
                </a:solidFill>
              </a:defRPr>
            </a:pPr>
            <a:r>
              <a:rPr sz="975">
                <a:solidFill>
                  <a:srgbClr val="545C66"/>
                </a:solidFill>
              </a:rPr>
              <a:t>Sources: HEnEx announcement, 1 Oct 2025; European Commission, 1 Oct 2025; Renewables Now, 1 Apr 2026.</a:t>
            </a:r>
          </a:p>
        </p:txBody>
      </p:sp>
    </p:spTree>
    <p:extLst>
      <p:ext uri="{BB962C8B-B14F-4D97-AF65-F5344CB8AC3E}">
        <p14:creationId xmlns:p14="http://schemas.microsoft.com/office/powerpoint/2010/main" val="237514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18F994A-638F-450B-AA83-1DAE0E08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13B5F214-0D4B-43C8-9503-4E0606A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D1F69-E9E2-49BA-B45F-E67DEAA5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716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3 / DATA SCARCITY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B86E6-46DD-4B89-A891-ABE1F3D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716280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6EDF3"/>
                </a:solidFill>
              </a:defRPr>
            </a:pPr>
            <a:r>
              <a:rPr sz="4200" b="1">
                <a:solidFill>
                  <a:srgbClr val="E6EDF3"/>
                </a:solidFill>
              </a:rPr>
              <a:t>The core defect is not missing ambition. It is missing operating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7B208-0518-4DA3-B28A-3DBB003E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7162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8B949E"/>
                </a:solidFill>
              </a:defRPr>
            </a:pPr>
            <a:r>
              <a:rPr sz="2250">
                <a:solidFill>
                  <a:srgbClr val="8B949E"/>
                </a:solidFill>
              </a:rPr>
              <a:t>A pure optimizer assumes clean inputs. A pure model wants history. Greek standalone batteries have neither at the asset level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AE009-174A-473D-9EE7-5DD3E14A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>
            <a:solidFill>
              <a:srgbClr val="F8717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536A5-5D72-4084-87E1-600909A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8496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Scarce battery telemetry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385CC-BCA8-42DC-8497-FB1CBA87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8496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No long local record of SoC paths, degradation, BMS behavior, downtime, or dispatch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99CF9-6B0B-4C21-AFD1-64D390A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48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83D43-C987-4DEC-B69B-3B899FE9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8496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Fragmented external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F2A8B-EA3F-4EA9-9C55-0735477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33900"/>
            <a:ext cx="8496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HEnEx prices and curves, IPTO/ENTSO-E system data, weather, gas, carbon, and shock context live in different formats.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6E47C-06B3-421B-9C79-65FE5D2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95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>
            <a:solidFill>
              <a:srgbClr val="60A5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B7B0D-FF5B-483C-8889-9D0F166B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76850"/>
            <a:ext cx="8496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Uncertain asset specs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A04F2-CB54-4C9B-BE60-C234FA6A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76900"/>
            <a:ext cx="8496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Headline MW/MWh does not equal usable AC dispatchable energy; supplier and warranty assumptions may be unknown.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7B795-4CAC-4845-8137-7901E75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38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FF795-CF64-4BF6-AF90-AC76CA2C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8496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Changing market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FBD8B-BC14-4265-9A7B-0679CFD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819900"/>
            <a:ext cx="8496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Trial operation, imbalance exposure, 15-minute MTUs, and support obligations affect what a profitable plan really means.</a:t>
            </a:r>
          </a:p>
        </p:txBody>
      </p:sp>
    </p:spTree>
    <p:extLst>
      <p:ext uri="{BB962C8B-B14F-4D97-AF65-F5344CB8AC3E}">
        <p14:creationId xmlns:p14="http://schemas.microsoft.com/office/powerpoint/2010/main" val="708589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E35CD34-CA7F-47D0-B0C0-7A0058F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4E2590CF-85E2-4EA5-A3C2-0A1CCE4A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237E5-2B59-4015-B49C-46B47CB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619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4 / 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58F4-0687-48B5-9C5B-3B4CEAA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47066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6EDF3"/>
                </a:solidFill>
              </a:defRPr>
            </a:pPr>
            <a:r>
              <a:rPr sz="5850" b="1">
                <a:solidFill>
                  <a:srgbClr val="E6EDF3"/>
                </a:solidFill>
              </a:rPr>
              <a:t>How should a battery operator schedule tomorrow when the market is volatile, the asset is new, and the data is incomplete?</a:t>
            </a:r>
          </a:p>
        </p:txBody>
      </p:sp>
      <p:sp>
        <p:nvSpPr>
          <p:cNvPr id="5" name="must-be-feasible">
            <a:extLst xmlns:a="http://schemas.openxmlformats.org/drawingml/2006/main">
              <a:ext uri="{FF2B5EF4-FFF2-40B4-BE49-F238E27FC236}">
                <a16:creationId xmlns:a16="http://schemas.microsoft.com/office/drawing/2014/main" id="{764B2D20-5DEE-4675-A256-E89543C4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70295"/>
            <a:ext cx="5194300" cy="1725930"/>
          </a:xfrm>
          <a:prstGeom xmlns:a="http://schemas.openxmlformats.org/drawingml/2006/main" prst="roundRect">
            <a:avLst>
              <a:gd name="adj" fmla="val 3311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8EEC6-C33E-42D5-A7E6-59E0E7CA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3817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B949E"/>
                </a:solidFill>
              </a:defRPr>
            </a:pPr>
            <a:r>
              <a:rPr sz="1275">
                <a:solidFill>
                  <a:srgbClr val="8B949E"/>
                </a:solidFill>
              </a:rPr>
              <a:t>Must 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68437-269D-4410-8DDB-7F7E8D0F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4705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4D399"/>
                </a:solidFill>
              </a:defRPr>
            </a:pPr>
            <a:r>
              <a:rPr sz="3600" b="1">
                <a:solidFill>
                  <a:srgbClr val="34D399"/>
                </a:solidFill>
              </a:rPr>
              <a:t>feasible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4B29E-3B2D-4CBE-B470-F240D04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27710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B949E"/>
                </a:solidFill>
              </a:defRPr>
            </a:pPr>
            <a:r>
              <a:rPr sz="1350">
                <a:solidFill>
                  <a:srgbClr val="8B949E"/>
                </a:solidFill>
              </a:rPr>
              <a:t>SoC, power, efficiency, reserve, and degradation constraints respected.</a:t>
            </a:r>
          </a:p>
        </p:txBody>
      </p:sp>
      <p:sp>
        <p:nvSpPr>
          <p:cNvPr id="9" name="must-be-explainable">
            <a:extLst xmlns:a="http://schemas.openxmlformats.org/drawingml/2006/main">
              <a:ext uri="{FF2B5EF4-FFF2-40B4-BE49-F238E27FC236}">
                <a16:creationId xmlns:a16="http://schemas.microsoft.com/office/drawing/2014/main" id="{1D390040-7DF2-44A5-9C66-CD59463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850" y="6170295"/>
            <a:ext cx="5194300" cy="1725930"/>
          </a:xfrm>
          <a:prstGeom xmlns:a="http://schemas.openxmlformats.org/drawingml/2006/main" prst="roundRect">
            <a:avLst>
              <a:gd name="adj" fmla="val 3311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EA762-2BF9-4822-B3FA-AC55A231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3817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B949E"/>
                </a:solidFill>
              </a:defRPr>
            </a:pPr>
            <a:r>
              <a:rPr sz="1275">
                <a:solidFill>
                  <a:srgbClr val="8B949E"/>
                </a:solidFill>
              </a:rPr>
              <a:t>Must 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F0376-08AE-4564-80BB-11353AA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648450"/>
            <a:ext cx="4705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67E8F9"/>
                </a:solidFill>
              </a:defRPr>
            </a:pPr>
            <a:r>
              <a:rPr sz="3600" b="1">
                <a:solidFill>
                  <a:srgbClr val="67E8F9"/>
                </a:solidFill>
              </a:rPr>
              <a:t>explainable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1AB58-0DD9-441C-A30D-6A9121A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27710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B949E"/>
                </a:solidFill>
              </a:defRPr>
            </a:pPr>
            <a:r>
              <a:rPr sz="1350">
                <a:solidFill>
                  <a:srgbClr val="8B949E"/>
                </a:solidFill>
              </a:rPr>
              <a:t>The operator sees the signals, assumptions, caveats, and confidence.</a:t>
            </a:r>
          </a:p>
        </p:txBody>
      </p:sp>
      <p:sp>
        <p:nvSpPr>
          <p:cNvPr id="13" name="must-be-useful">
            <a:extLst xmlns:a="http://schemas.openxmlformats.org/drawingml/2006/main">
              <a:ext uri="{FF2B5EF4-FFF2-40B4-BE49-F238E27FC236}">
                <a16:creationId xmlns:a16="http://schemas.microsoft.com/office/drawing/2014/main" id="{A81F949E-4A9C-409F-A412-081040F1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950" y="6170295"/>
            <a:ext cx="5194300" cy="1725930"/>
          </a:xfrm>
          <a:prstGeom xmlns:a="http://schemas.openxmlformats.org/drawingml/2006/main" prst="roundRect">
            <a:avLst>
              <a:gd name="adj" fmla="val 3311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98234-0268-444E-BCA3-8D9F6BE1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81750"/>
            <a:ext cx="470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B949E"/>
                </a:solidFill>
              </a:defRPr>
            </a:pPr>
            <a:r>
              <a:rPr sz="1275">
                <a:solidFill>
                  <a:srgbClr val="8B949E"/>
                </a:solidFill>
              </a:rPr>
              <a:t>Must 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231FF-CE10-4A11-8454-2F98A055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8450"/>
            <a:ext cx="4705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9E0B"/>
                </a:solidFill>
              </a:defRPr>
            </a:pPr>
            <a:r>
              <a:rPr sz="3600" b="1">
                <a:solidFill>
                  <a:srgbClr val="F59E0B"/>
                </a:solidFill>
              </a:rPr>
              <a:t>actionable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1B177-297F-4562-AB5B-26952E9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7710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B949E"/>
                </a:solidFill>
              </a:defRPr>
            </a:pPr>
            <a:r>
              <a:rPr sz="1350">
                <a:solidFill>
                  <a:srgbClr val="8B949E"/>
                </a:solidFill>
              </a:rPr>
              <a:t>Charge, discharge, or idle decisions by interval, not just a dashboard of charts.</a:t>
            </a:r>
          </a:p>
        </p:txBody>
      </p:sp>
    </p:spTree>
    <p:extLst>
      <p:ext uri="{BB962C8B-B14F-4D97-AF65-F5344CB8AC3E}">
        <p14:creationId xmlns:p14="http://schemas.microsoft.com/office/powerpoint/2010/main" val="1249838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5626ADA-0AEC-472C-917B-1D78482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0367CDF8-E0E4-4AB7-B942-C1A9B61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E345-EFE6-4B4C-A21C-44AB4E1E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5 / REIMAGINED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2BCB-BDFA-4F76-89C9-010D6BD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6573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6EDF3"/>
                </a:solidFill>
              </a:defRPr>
            </a:pPr>
            <a:r>
              <a:rPr sz="4350" b="1">
                <a:solidFill>
                  <a:srgbClr val="E6EDF3"/>
                </a:solidFill>
              </a:rPr>
              <a:t>Beyond an optimisation model: a decision cockpit for battery operators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C6C5A-9B61-4F7B-82D0-F02E49CA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13963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B949E"/>
                </a:solidFill>
              </a:defRPr>
            </a:pPr>
            <a:r>
              <a:rPr sz="1875">
                <a:solidFill>
                  <a:srgbClr val="8B949E"/>
                </a:solidFill>
              </a:rPr>
              <a:t>The model is one engine in a broader platform: data provenance, signal intelligence, a battery twin, scenario planning, and business insight.</a:t>
            </a:r>
          </a:p>
        </p:txBody>
      </p:sp>
      <p:sp>
        <p:nvSpPr>
          <p:cNvPr id="6" name="data-fabric">
            <a:extLst xmlns:a="http://schemas.openxmlformats.org/drawingml/2006/main">
              <a:ext uri="{FF2B5EF4-FFF2-40B4-BE49-F238E27FC236}">
                <a16:creationId xmlns:a16="http://schemas.microsoft.com/office/drawing/2014/main" id="{353FBB5F-F673-440E-85B8-2C005BD9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5180"/>
            <a:ext cx="2619375" cy="576453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FDF71-699B-45DF-A12E-E6C7DB74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7E8F9"/>
                </a:solidFill>
              </a:defRPr>
            </a:pPr>
            <a:r>
              <a:rPr sz="1800">
                <a:solidFill>
                  <a:srgbClr val="67E8F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40FDD-4DF6-4A6F-8499-59D8613C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6EDF3"/>
                </a:solidFill>
              </a:defRPr>
            </a:pPr>
            <a:r>
              <a:rPr sz="2325" b="1">
                <a:solidFill>
                  <a:srgbClr val="E6EDF3"/>
                </a:solidFill>
              </a:rPr>
              <a:t>Data Fabric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F5D07-D075-4040-814C-632A656A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13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HEnEx, IPTO, weather, TTF, EEX, carbon, asset specs.</a:t>
            </a:r>
          </a:p>
        </p:txBody>
      </p:sp>
      <p:sp>
        <p:nvSpPr>
          <p:cNvPr id="10" name="signal-engine">
            <a:extLst xmlns:a="http://schemas.openxmlformats.org/drawingml/2006/main">
              <a:ext uri="{FF2B5EF4-FFF2-40B4-BE49-F238E27FC236}">
                <a16:creationId xmlns:a16="http://schemas.microsoft.com/office/drawing/2014/main" id="{CE444B96-5FE5-4096-93A8-77D01E0F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45180"/>
            <a:ext cx="2619375" cy="576453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EFB65-1A20-4907-8CB5-43948A9F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4D399"/>
                </a:solidFill>
              </a:defRPr>
            </a:pPr>
            <a:r>
              <a:rPr sz="1800">
                <a:solidFill>
                  <a:srgbClr val="34D39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D81E8-F489-4D62-A1FB-08C758B0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6EDF3"/>
                </a:solidFill>
              </a:defRPr>
            </a:pPr>
            <a:r>
              <a:rPr sz="2325" b="1">
                <a:solidFill>
                  <a:srgbClr val="E6EDF3"/>
                </a:solidFill>
              </a:rPr>
              <a:t>Signal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A2178-BAEE-4BC3-B2D3-76587FCE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2133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Flexibility value, fragility, curtailment fit, scarcity.</a:t>
            </a:r>
          </a:p>
        </p:txBody>
      </p:sp>
      <p:sp>
        <p:nvSpPr>
          <p:cNvPr id="14" name="battery-twin">
            <a:extLst xmlns:a="http://schemas.openxmlformats.org/drawingml/2006/main">
              <a:ext uri="{FF2B5EF4-FFF2-40B4-BE49-F238E27FC236}">
                <a16:creationId xmlns:a16="http://schemas.microsoft.com/office/drawing/2014/main" id="{563E08D4-4FF1-4AFA-B20C-F2041395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5180"/>
            <a:ext cx="2619375" cy="576453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DBD6D-EE75-46E4-B5B1-CE676B2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A5FA"/>
                </a:solidFill>
              </a:defRPr>
            </a:pPr>
            <a:r>
              <a:rPr sz="1800">
                <a:solidFill>
                  <a:srgbClr val="60A5F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B360B-036F-4DAA-83BB-1ED0B0F1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6EDF3"/>
                </a:solidFill>
              </a:defRPr>
            </a:pPr>
            <a:r>
              <a:rPr sz="2325" b="1">
                <a:solidFill>
                  <a:srgbClr val="E6EDF3"/>
                </a:solidFill>
              </a:rPr>
              <a:t>Battery Twin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389D2-A34C-4695-9781-417F815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33900"/>
            <a:ext cx="213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SoC, duration, efficiency, capacity stack, degradation.</a:t>
            </a:r>
          </a:p>
        </p:txBody>
      </p:sp>
      <p:sp>
        <p:nvSpPr>
          <p:cNvPr id="18" name="model-lab">
            <a:extLst xmlns:a="http://schemas.openxmlformats.org/drawingml/2006/main">
              <a:ext uri="{FF2B5EF4-FFF2-40B4-BE49-F238E27FC236}">
                <a16:creationId xmlns:a16="http://schemas.microsoft.com/office/drawing/2014/main" id="{83EFC970-4999-4F42-8776-4540A5FF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345180"/>
            <a:ext cx="2619375" cy="576453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9FDA1-2C74-447C-89BD-2413AA24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623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78BFA"/>
                </a:solidFill>
              </a:defRPr>
            </a:pPr>
            <a:r>
              <a:rPr sz="1800">
                <a:solidFill>
                  <a:srgbClr val="A78BF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DEB7B-25E1-4558-BF4B-4ECCBF8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6EDF3"/>
                </a:solidFill>
              </a:defRPr>
            </a:pPr>
            <a:r>
              <a:rPr sz="2325" b="1">
                <a:solidFill>
                  <a:srgbClr val="E6EDF3"/>
                </a:solidFill>
              </a:rPr>
              <a:t>Model 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E7F34-DB6A-4FF7-A739-D82C10AD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33900"/>
            <a:ext cx="213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Baselines, GBMs, ensembles, error and decision scoring.</a:t>
            </a:r>
          </a:p>
        </p:txBody>
      </p:sp>
      <p:sp>
        <p:nvSpPr>
          <p:cNvPr id="22" name="scheduler">
            <a:extLst xmlns:a="http://schemas.openxmlformats.org/drawingml/2006/main">
              <a:ext uri="{FF2B5EF4-FFF2-40B4-BE49-F238E27FC236}">
                <a16:creationId xmlns:a16="http://schemas.microsoft.com/office/drawing/2014/main" id="{5BE90CFC-D015-4FB6-B2E0-9F41869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3345180"/>
            <a:ext cx="2619375" cy="576453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B2B8F-24F4-497F-A51F-37940987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5623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59E0B"/>
                </a:solidFill>
              </a:defRPr>
            </a:pPr>
            <a:r>
              <a:rPr sz="1800">
                <a:solidFill>
                  <a:srgbClr val="F59E0B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21ABC-88CB-45DF-97E7-CC09FC0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000500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6EDF3"/>
                </a:solidFill>
              </a:defRPr>
            </a:pPr>
            <a:r>
              <a:rPr sz="2325" b="1">
                <a:solidFill>
                  <a:srgbClr val="E6EDF3"/>
                </a:solidFill>
              </a:rPr>
              <a:t>Scheduler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4FF81-700C-4302-B05E-0D69BEC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533900"/>
            <a:ext cx="213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96-MTU charge/discharge/idle plan under constraints.</a:t>
            </a:r>
          </a:p>
        </p:txBody>
      </p:sp>
      <p:sp>
        <p:nvSpPr>
          <p:cNvPr id="26" name="cockpit">
            <a:extLst xmlns:a="http://schemas.openxmlformats.org/drawingml/2006/main">
              <a:ext uri="{FF2B5EF4-FFF2-40B4-BE49-F238E27FC236}">
                <a16:creationId xmlns:a16="http://schemas.microsoft.com/office/drawing/2014/main" id="{002ADF99-D3C6-4555-B223-9E46581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3345180"/>
            <a:ext cx="2619375" cy="5764530"/>
          </a:xfrm>
          <a:prstGeom xmlns:a="http://schemas.openxmlformats.org/drawingml/2006/main" prst="roundRect">
            <a:avLst>
              <a:gd name="adj" fmla="val 218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C027C-13E7-4E60-A373-D2693410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3562350"/>
            <a:ext cx="2133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87171"/>
                </a:solidFill>
              </a:defRPr>
            </a:pPr>
            <a:r>
              <a:rPr sz="1800">
                <a:solidFill>
                  <a:srgbClr val="F87171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32DBF-DF19-4EC9-8D30-10E0449B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4000500"/>
            <a:ext cx="2133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6EDF3"/>
                </a:solidFill>
              </a:defRPr>
            </a:pPr>
            <a:r>
              <a:rPr sz="2325" b="1">
                <a:solidFill>
                  <a:srgbClr val="E6EDF3"/>
                </a:solidFill>
              </a:rPr>
              <a:t>Cockpit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B87D8-6FAC-4D38-A89D-B995D910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4533900"/>
            <a:ext cx="2133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Operator plan, risks, provenance, scenarios, BI.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F6EE2E-829A-4B61-9188-8FE56041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1657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45C66"/>
                </a:solidFill>
              </a:defRPr>
            </a:pPr>
            <a:r>
              <a:rPr sz="975">
                <a:solidFill>
                  <a:srgbClr val="545C66"/>
                </a:solidFill>
              </a:rPr>
              <a:t>Repo basis: Battery Intelligence OS product vision, branding guide, control room and scheduler design docs.</a:t>
            </a:r>
          </a:p>
        </p:txBody>
      </p:sp>
    </p:spTree>
    <p:extLst>
      <p:ext uri="{BB962C8B-B14F-4D97-AF65-F5344CB8AC3E}">
        <p14:creationId xmlns:p14="http://schemas.microsoft.com/office/powerpoint/2010/main" val="751231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164FDCD-154B-4EBC-9140-A417E66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14E78B24-8323-4A60-B306-7AACF58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0675A-5328-444D-8A45-FA1F4CDE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6 / VALUE PROPOSITION CANVAS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372C5-444B-44BC-BBD9-219402DC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661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6EDF3"/>
                </a:solidFill>
              </a:defRPr>
            </a:pPr>
            <a:r>
              <a:rPr sz="4350" b="1">
                <a:solidFill>
                  <a:srgbClr val="E6EDF3"/>
                </a:solidFill>
              </a:rPr>
              <a:t>The cockpit maps directly to operator jobs, pains, and gains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12D28-BEB8-408C-8CEA-9F8F3B7E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7E8F9"/>
                </a:solidFill>
              </a:defRPr>
            </a:pPr>
            <a:r>
              <a:rPr sz="1650">
                <a:solidFill>
                  <a:srgbClr val="67E8F9"/>
                </a:solidFill>
              </a:rPr>
              <a:t>CUSTOMER JOBS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43A6B-A52E-46B9-A731-0884DFAF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>
            <a:solidFill>
              <a:srgbClr val="67E8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C9194-7A66-456A-A095-9222AA47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Schedule tomorrow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17F9A-213F-490C-9519-DD498761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Produce a feasible 96-interval charge/discharge/idle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3B97-B77B-4411-B0DE-ADD52CD4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>
            <a:solidFill>
              <a:srgbClr val="67E8F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EB093-D2E4-492A-B8D6-86D20150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Explain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ADF69-170B-40D7-9FE4-EAB7A74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Show why each action was chosen and what assumption it depends 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E2C8E-6FF9-44D1-BED3-0CEB1C13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>
            <a:solidFill>
              <a:srgbClr val="67E8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74B0C-A3E7-4907-8A97-860B2A4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Plan the business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701F0-84D9-4599-8D8E-A266CD0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Understand regime shifts, duration choices, and market opportunity.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66FBC-4976-4AB0-A2E2-2B188CE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7171"/>
                </a:solidFill>
              </a:defRPr>
            </a:pPr>
            <a:r>
              <a:rPr sz="1650">
                <a:solidFill>
                  <a:srgbClr val="F87171"/>
                </a:solidFill>
              </a:rPr>
              <a:t>PAINS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56299-BB86-49B5-AAFC-BCA844BA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>
            <a:solidFill>
              <a:srgbClr val="F871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9E2C1-A869-4A63-9DE4-CDA1A63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No asset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E8153-A45B-45BC-8A9C-7F590606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504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New batteries lack mature local operating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7A10C-B677-4C17-BD26-A6674E8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>
            <a:solidFill>
              <a:srgbClr val="F871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E9F14-C09E-4D3C-ACEC-EE0DCD05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Black-box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B9C01-7017-44DE-B3DB-303EC300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A profitable-looking schedule can violate constraints or rely on fragile spreads.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A84B9-FA28-41B8-B4DE-009723E7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>
            <a:solidFill>
              <a:srgbClr val="F871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03107-E350-4B02-8B3E-BCCFBB6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Source sprawl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84719-D4EE-4486-947D-32AB6C78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Signals are scattered across market files, APIs, PDFs, weather, and fuel data.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8DA47-66FE-4A4A-9251-6728993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1943100"/>
            <a:ext cx="531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4D399"/>
                </a:solidFill>
              </a:defRPr>
            </a:pPr>
            <a:r>
              <a:rPr sz="1650">
                <a:solidFill>
                  <a:srgbClr val="34D399"/>
                </a:solidFill>
              </a:rPr>
              <a:t>GAIN CREATORS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27574-2E64-4000-B28C-AD554B36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4003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>
            <a:solidFill>
              <a:srgbClr val="34D3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06475-ACE6-4D13-B675-DA70917F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3812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Trust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22C0B-4448-479A-908E-F0165E60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7813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Confidence, data health, and feasibility checks sit beside the recommendation.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BA52C-B991-4CD0-9665-073C783E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4671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>
            <a:solidFill>
              <a:srgbClr val="34D3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3E612-4BF1-4E33-BE84-2CD2BBA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4480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Scenario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79A5A2-5E1F-4304-9941-9893E149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8481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Gas shock, solar surplus, and duration comparisons expose robustness.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AE61DC-86C3-4294-992A-34E8608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533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>
            <a:solidFill>
              <a:srgbClr val="34D39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F3064-E8C7-4AB1-914E-C0F8D94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5148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BI layer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93E60E-9754-4297-8E4D-7C78A4D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914900"/>
            <a:ext cx="504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The same data supports scheduling, planning, reporting, and insight gathering.</a:t>
            </a:r>
          </a:p>
        </p:txBody>
      </p:sp>
    </p:spTree>
    <p:extLst>
      <p:ext uri="{BB962C8B-B14F-4D97-AF65-F5344CB8AC3E}">
        <p14:creationId xmlns:p14="http://schemas.microsoft.com/office/powerpoint/2010/main" val="5358392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095F43-3D19-4491-A774-22E06A68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B0324664-8A80-4438-B476-A053459B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0962-602C-49A6-A53D-BF010D9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657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7 / FEATURE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2D553-2685-42EE-97AA-C8065045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6EDF3"/>
                </a:solidFill>
              </a:defRPr>
            </a:pPr>
            <a:r>
              <a:rPr sz="4200" b="1">
                <a:solidFill>
                  <a:srgbClr val="E6EDF3"/>
                </a:solidFill>
              </a:rPr>
              <a:t>What we need to implement for the hackathon value proposition</a:t>
            </a:r>
          </a:p>
        </p:txBody>
      </p:sp>
      <p:sp>
        <p:nvSpPr>
          <p:cNvPr id="5" name="feature-control-room">
            <a:extLst xmlns:a="http://schemas.openxmlformats.org/drawingml/2006/main">
              <a:ext uri="{FF2B5EF4-FFF2-40B4-BE49-F238E27FC236}">
                <a16:creationId xmlns:a16="http://schemas.microsoft.com/office/drawing/2014/main" id="{E8688F51-4CF9-4EFF-98F0-9263B6E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5480"/>
            <a:ext cx="5522002" cy="350139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53390-0CB5-4B00-B71E-1F27868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502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4D399"/>
                </a:solidFill>
              </a:defRPr>
            </a:pPr>
            <a:r>
              <a:rPr sz="1500">
                <a:solidFill>
                  <a:srgbClr val="34D399"/>
                </a:solidFill>
              </a:rPr>
              <a:t>P0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572DC-B6DA-4114-80CB-FE4FC79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502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6EDF3"/>
                </a:solidFill>
              </a:defRPr>
            </a:pPr>
            <a:r>
              <a:rPr sz="2400" b="1">
                <a:solidFill>
                  <a:srgbClr val="E6EDF3"/>
                </a:solidFill>
              </a:rPr>
              <a:t>Control 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01849-5D3E-4C8B-83BC-0E902BDF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Recommended schedule, 96-MTU action tape, SoC path, expected value, degradation cost, feasibility proof.</a:t>
            </a:r>
          </a:p>
        </p:txBody>
      </p:sp>
      <p:sp>
        <p:nvSpPr>
          <p:cNvPr id="9" name="feature-data-health">
            <a:extLst xmlns:a="http://schemas.openxmlformats.org/drawingml/2006/main">
              <a:ext uri="{FF2B5EF4-FFF2-40B4-BE49-F238E27FC236}">
                <a16:creationId xmlns:a16="http://schemas.microsoft.com/office/drawing/2014/main" id="{88BFFEA1-9866-46CF-98D0-AFA10668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952" y="1935480"/>
            <a:ext cx="5259049" cy="350139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FBB7E-2244-4439-A5C5-96A79216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4D399"/>
                </a:solidFill>
              </a:defRPr>
            </a:pPr>
            <a:r>
              <a:rPr sz="1500">
                <a:solidFill>
                  <a:srgbClr val="34D399"/>
                </a:solidFill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1ECCB-93D2-4F47-A317-A2E517A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6EDF3"/>
                </a:solidFill>
              </a:defRPr>
            </a:pPr>
            <a:r>
              <a:rPr sz="2400" b="1">
                <a:solidFill>
                  <a:srgbClr val="E6EDF3"/>
                </a:solidFill>
              </a:rPr>
              <a:t>Data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5B93F-F220-43C0-943C-66DE13C4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Source freshness, missingness, live/cached/demo labels, provenance near the recommendation.</a:t>
            </a:r>
          </a:p>
        </p:txBody>
      </p:sp>
      <p:sp>
        <p:nvSpPr>
          <p:cNvPr id="13" name="feature-twin">
            <a:extLst xmlns:a="http://schemas.openxmlformats.org/drawingml/2006/main">
              <a:ext uri="{FF2B5EF4-FFF2-40B4-BE49-F238E27FC236}">
                <a16:creationId xmlns:a16="http://schemas.microsoft.com/office/drawing/2014/main" id="{2C1356A4-D2A8-43A2-83D3-9554BED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701" y="1935480"/>
            <a:ext cx="5259049" cy="350139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B50B8-49A1-4C94-97AA-0FA0674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1526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4D399"/>
                </a:solidFill>
              </a:defRPr>
            </a:pPr>
            <a:r>
              <a:rPr sz="1500">
                <a:solidFill>
                  <a:srgbClr val="34D399"/>
                </a:solidFill>
              </a:rPr>
              <a:t>P0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0E702-B442-450C-AFE8-0748E11F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4955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6EDF3"/>
                </a:solidFill>
              </a:defRPr>
            </a:pPr>
            <a:r>
              <a:rPr sz="2400" b="1">
                <a:solidFill>
                  <a:srgbClr val="E6EDF3"/>
                </a:solidFill>
              </a:rPr>
              <a:t>Battery Twin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7122E-7FFC-479F-B55A-ECBAAE8F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9908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Operator-configurable MW/MWh, duration, efficiency, SoC buffers, capacity stack, confidence levels.</a:t>
            </a:r>
          </a:p>
        </p:txBody>
      </p:sp>
      <p:sp>
        <p:nvSpPr>
          <p:cNvPr id="17" name="feature-signal">
            <a:extLst xmlns:a="http://schemas.openxmlformats.org/drawingml/2006/main">
              <a:ext uri="{FF2B5EF4-FFF2-40B4-BE49-F238E27FC236}">
                <a16:creationId xmlns:a16="http://schemas.microsoft.com/office/drawing/2014/main" id="{CAA7A540-FF92-4E7E-A559-2352DC6E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5470"/>
            <a:ext cx="5522002" cy="350139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2A0AB-6412-466A-AFF3-E7B5F0FF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502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9E0B"/>
                </a:solidFill>
              </a:defRPr>
            </a:pPr>
            <a:r>
              <a:rPr sz="1500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52B0B-75EB-49B3-BB02-44E6246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5029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6EDF3"/>
                </a:solidFill>
              </a:defRPr>
            </a:pPr>
            <a:r>
              <a:rPr sz="2400" b="1">
                <a:solidFill>
                  <a:srgbClr val="E6EDF3"/>
                </a:solidFill>
              </a:rPr>
              <a:t>Signal 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BD1F5-B123-4BCF-AEC1-DB7F071F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24650"/>
            <a:ext cx="5029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Spread coverage, fragility, curtailment fit, battery stress, data confidence, reason codes.</a:t>
            </a:r>
          </a:p>
        </p:txBody>
      </p:sp>
      <p:sp>
        <p:nvSpPr>
          <p:cNvPr id="21" name="feature-model">
            <a:extLst xmlns:a="http://schemas.openxmlformats.org/drawingml/2006/main">
              <a:ext uri="{FF2B5EF4-FFF2-40B4-BE49-F238E27FC236}">
                <a16:creationId xmlns:a16="http://schemas.microsoft.com/office/drawing/2014/main" id="{700FEE05-60A8-40B7-8050-64EF0EE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952" y="5665470"/>
            <a:ext cx="5259049" cy="350139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D83AD-274B-4E69-9B3D-3EC40D6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674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9E0B"/>
                </a:solidFill>
              </a:defRPr>
            </a:pPr>
            <a:r>
              <a:rPr sz="1500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3CA94-83B6-4592-800B-D53BB340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2293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6EDF3"/>
                </a:solidFill>
              </a:defRPr>
            </a:pPr>
            <a:r>
              <a:rPr sz="2400" b="1">
                <a:solidFill>
                  <a:srgbClr val="E6EDF3"/>
                </a:solidFill>
              </a:rPr>
              <a:t>Model Lab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70020-8713-4F00-9196-D162704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7246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Baseline vs ML model comparison scored by decision quality, not just forecast error.</a:t>
            </a:r>
          </a:p>
        </p:txBody>
      </p:sp>
      <p:sp>
        <p:nvSpPr>
          <p:cNvPr id="25" name="feature-scenario">
            <a:extLst xmlns:a="http://schemas.openxmlformats.org/drawingml/2006/main">
              <a:ext uri="{FF2B5EF4-FFF2-40B4-BE49-F238E27FC236}">
                <a16:creationId xmlns:a16="http://schemas.microsoft.com/office/drawing/2014/main" id="{F44F656A-F731-4E8E-891B-88658984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701" y="5665470"/>
            <a:ext cx="5259049" cy="3501390"/>
          </a:xfrm>
          <a:prstGeom xmlns:a="http://schemas.openxmlformats.org/drawingml/2006/main" prst="roundRect">
            <a:avLst>
              <a:gd name="adj" fmla="val 1632"/>
            </a:avLst>
          </a:prstGeom>
          <a:solidFill xmlns:a="http://schemas.openxmlformats.org/drawingml/2006/main">
            <a:srgbClr val="FFFFFF">
              <a:alpha val="35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B1DCD-A568-4EF2-82C1-3118F3E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8674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9E0B"/>
                </a:solidFill>
              </a:defRPr>
            </a:pPr>
            <a:r>
              <a:rPr sz="1500">
                <a:solidFill>
                  <a:srgbClr val="F59E0B"/>
                </a:solidFill>
              </a:rPr>
              <a:t>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1EAD5-14C1-45DF-A7CF-B414677A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2293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6EDF3"/>
                </a:solidFill>
              </a:defRPr>
            </a:pPr>
            <a:r>
              <a:rPr sz="2400" b="1">
                <a:solidFill>
                  <a:srgbClr val="E6EDF3"/>
                </a:solidFill>
              </a:rPr>
              <a:t>Scenario Planner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39D1D-BFE1-436B-8680-1D333808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7246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B949E"/>
                </a:solidFill>
              </a:defRPr>
            </a:pPr>
            <a:r>
              <a:rPr sz="1500">
                <a:solidFill>
                  <a:srgbClr val="8B949E"/>
                </a:solidFill>
              </a:rPr>
              <a:t>Base case, gas shock, solar surplus, 2h vs 4h battery comparison, business-insight exports.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B7636-60D5-483E-BC89-EA9EF38C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16573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45C66"/>
                </a:solidFill>
              </a:defRPr>
            </a:pPr>
            <a:r>
              <a:rPr sz="975">
                <a:solidFill>
                  <a:srgbClr val="545C66"/>
                </a:solidFill>
              </a:rPr>
              <a:t>Feature scope derived from repo docs: product vision, decision-confidence strip, scenario comparison, battery twin, and scheduler design.</a:t>
            </a:r>
          </a:p>
        </p:txBody>
      </p:sp>
    </p:spTree>
    <p:extLst>
      <p:ext uri="{BB962C8B-B14F-4D97-AF65-F5344CB8AC3E}">
        <p14:creationId xmlns:p14="http://schemas.microsoft.com/office/powerpoint/2010/main" val="16555606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56F784-CBD7-41F8-98D9-4AD4119D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2" name="top-horizon">
            <a:extLst xmlns:a="http://schemas.openxmlformats.org/drawingml/2006/main">
              <a:ext uri="{FF2B5EF4-FFF2-40B4-BE49-F238E27FC236}">
                <a16:creationId xmlns:a16="http://schemas.microsoft.com/office/drawing/2014/main" id="{7479C837-1FBA-4249-B58C-C2DC93E0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>
              <a:alpha val="5000"/>
            </a:srgbClr>
          </a:solidFill>
          <a:ln xmlns:a="http://schemas.openxmlformats.org/drawingml/2006/main">
            <a:solidFill>
              <a:srgbClr val="0505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8DE2-5E58-434B-9441-1087A906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821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LANDING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0CFD8-414A-422C-AFE6-728C030C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821055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6EDF3"/>
                </a:solidFill>
              </a:defRPr>
            </a:pPr>
            <a:r>
              <a:rPr sz="4800" b="1">
                <a:solidFill>
                  <a:srgbClr val="E6EDF3"/>
                </a:solidFill>
              </a:rPr>
              <a:t>Kpler-style intelligence, specialized into executable battery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5AE4F-D551-4B0A-AF8E-1B9DDB3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82105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8B949E"/>
                </a:solidFill>
              </a:defRPr>
            </a:pPr>
            <a:r>
              <a:rPr sz="2325">
                <a:solidFill>
                  <a:srgbClr val="8B949E"/>
                </a:solidFill>
              </a:rPr>
              <a:t>The wedge is Greece. The durable product is a platform for battery operators to schedule, plan, audit, and learn under uncertainty.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F343-C339-4231-B5DA-A64DAA9E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43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1C4F9-5A4A-4970-B016-9638F228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05650"/>
            <a:ext cx="82105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8B949E"/>
                </a:solidFill>
              </a:defRPr>
            </a:pPr>
            <a:r>
              <a:rPr sz="1950">
                <a:solidFill>
                  <a:srgbClr val="8B949E"/>
                </a:solidFill>
              </a:rPr>
              <a:t>The demo should make one thing obvious: data scarcity is not a blocker if the platform makes assumptions explicit, constraints real, and decisions explainable.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128A7-AD8F-4365-86DF-558C7F10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195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>
            <a:solidFill>
              <a:srgbClr val="34D3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7AEA7-F6A7-4730-8E03-FB7D320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00450"/>
            <a:ext cx="7162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Operate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CF116-4935-4DED-94BA-D910BC0D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0050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What should the battery do tomorrow?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E55CC-EAFD-41AC-AC1E-A2847505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196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5E3E5-FD0F-4587-B102-B230FFC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19600"/>
            <a:ext cx="7162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Understand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959A0-5163-45DF-8F5B-DFE144A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1965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Which signals drove the recommendation?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31AF1-B5D3-4F10-A814-5774C5A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197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06535-E7A8-4605-AD02-B701E1B7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238750"/>
            <a:ext cx="7162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Stress-test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BA739-2399-4703-AC97-DD3BDDA5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3880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Does the plan survive plausible market regimes?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575C3-07CD-4386-A10A-0397297B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57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65FB8-CBE9-42B3-852F-74773459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038850"/>
            <a:ext cx="7162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EDF3"/>
                </a:solidFill>
              </a:defRPr>
            </a:pPr>
            <a:r>
              <a:rPr sz="2250" b="1">
                <a:solidFill>
                  <a:srgbClr val="E6EDF3"/>
                </a:solidFill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5863C-6545-49E0-8D1D-4194BFDD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43890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8B949E"/>
                </a:solidFill>
              </a:defRPr>
            </a:pPr>
            <a:r>
              <a:rPr sz="1575">
                <a:solidFill>
                  <a:srgbClr val="8B949E"/>
                </a:solidFill>
              </a:rPr>
              <a:t>What does this imply for asset strategy and business intelligence?</a:t>
            </a:r>
          </a:p>
        </p:txBody>
      </p:sp>
    </p:spTree>
    <p:extLst>
      <p:ext uri="{BB962C8B-B14F-4D97-AF65-F5344CB8AC3E}">
        <p14:creationId xmlns:p14="http://schemas.microsoft.com/office/powerpoint/2010/main" val="896545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2026-04-30T11:52:11.1180000Z</dcterms:created>
  <dcterms:modified xsi:type="dcterms:W3CDTF">2026-04-30T11:52:11.1180000Z</dcterms:modified>
</coreProperties>
</file>